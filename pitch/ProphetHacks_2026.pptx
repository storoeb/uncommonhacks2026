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When Being Right Doesn't 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29B5E8"/>
                </a:solidFill>
              </a:rPr>
              <a:t>"The Brier score is an absolute metric,
while the averaged return score is a relative metric."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A97AB"/>
                </a:solidFill>
              </a:rPr>
              <a:t>— Sida Li, Prophet Arena Team  (PM-RANK 0.3.1)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ProphetHacks 2026  ·  Forecasting Track  ·  University of Chicago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26364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97AB"/>
                </a:solidFill>
              </a:rPr>
              <a:t>Built on  Snowflake  ·  Wafer.ai  ·  Kalshi  ·  Prophet Arena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Two Metrics. Opposite Incentives.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120640" cy="4114800"/>
          </a:xfrm>
          <a:prstGeom prst="rect">
            <a:avLst/>
          </a:prstGeom>
          <a:solidFill>
            <a:srgbClr val="16233A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B5E8"/>
                </a:solidFill>
              </a:rPr>
              <a:t>Brier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A3C"/>
                </a:solidFill>
              </a:rPr>
              <a:t>Absolute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How close were your probabilities to the actual outcome?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8A97AB"/>
                </a:solidFill>
              </a:rPr>
              <a:t>Strategy that works:</a:t>
            </a:r>
          </a:p>
          <a:p>
            <a:pPr algn="l"/>
            <a:r>
              <a:rPr sz="1700" b="0" i="0">
                <a:solidFill>
                  <a:srgbClr val="8A97AB"/>
                </a:solidFill>
              </a:rPr>
              <a:t>Copy the market price — it already reflects
collective wisdom.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FF6B6B"/>
                </a:solidFill>
              </a:rPr>
              <a:t>Problem:</a:t>
            </a:r>
          </a:p>
          <a:p>
            <a:pPr algn="l"/>
            <a:r>
              <a:rPr sz="1700" b="0" i="0">
                <a:solidFill>
                  <a:srgbClr val="FF6B6B"/>
                </a:solidFill>
              </a:rPr>
              <a:t>If you are the market, you earn nothing
above the market.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11112" y="1234440"/>
            <a:ext cx="5120640" cy="4114800"/>
          </a:xfrm>
          <a:prstGeom prst="rect">
            <a:avLst/>
          </a:prstGeom>
          <a:solidFill>
            <a:srgbClr val="16233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417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</a:rPr>
              <a:t>AVER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A3C"/>
                </a:solidFill>
              </a:rPr>
              <a:t>Relative edge vs the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4231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How much did you profit vs. just copying
the Kalshi market price?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8A97AB"/>
                </a:solidFill>
              </a:rPr>
              <a:t>Key property:</a:t>
            </a:r>
          </a:p>
          <a:p>
            <a:pPr algn="l"/>
            <a:r>
              <a:rPr sz="1700" b="0" i="0">
                <a:solidFill>
                  <a:srgbClr val="8A97AB"/>
                </a:solidFill>
              </a:rPr>
              <a:t>If p = q (market), AVER = 0 by definition.
You need to deviate correctly to win.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1" i="0">
                <a:solidFill>
                  <a:srgbClr val="FF6B6B"/>
                </a:solidFill>
              </a:rPr>
              <a:t>Problem:</a:t>
            </a:r>
          </a:p>
          <a:p>
            <a:pPr algn="l"/>
            <a:r>
              <a:rPr sz="1700" b="0" i="0">
                <a:solidFill>
                  <a:srgbClr val="FF6B6B"/>
                </a:solidFill>
              </a:rPr>
              <a:t>Every wrong deviation from the market
burns both AVER and Brier.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651760"/>
            <a:ext cx="103327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9A3C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3291840"/>
            <a:ext cx="1307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A3C"/>
                </a:solidFill>
              </a:rPr>
              <a:t>Tension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86400"/>
            <a:ext cx="11274552" cy="86868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5955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FFFFF"/>
                </a:solidFill>
              </a:rPr>
              <a:t>PM-RANK 0.3.1 puts it directly: "A has a higher Brier Score, but lower returns." — This is the design brief.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</a:rPr>
              <a:t>Every Naive Approach Fails on One Metric — or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212080" cy="3657600"/>
          </a:xfrm>
          <a:prstGeom prst="rect">
            <a:avLst/>
          </a:prstGeom>
          <a:solidFill>
            <a:srgbClr val="16233A"/>
          </a:solidFill>
          <a:ln w="19050">
            <a:solidFill>
              <a:srgbClr val="8A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❌  "Just copy Kalshi"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9B5E8"/>
                </a:solidFill>
              </a:rPr>
              <a:t>Brier: decent (~0.41)</a:t>
            </a:r>
          </a:p>
          <a:p>
            <a:pPr algn="l"/>
            <a:r>
              <a:rPr sz="2000" b="1" i="0">
                <a:solidFill>
                  <a:srgbClr val="FF6B6B"/>
                </a:solidFill>
              </a:rPr>
              <a:t>AVER: 0.000  (zero edge, always)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 b="0" i="1">
                <a:solidFill>
                  <a:srgbClr val="8A97AB"/>
                </a:solidFill>
              </a:rPr>
              <a:t>You cannot beat a market by being a market.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8A97AB"/>
                </a:solidFill>
              </a:rPr>
              <a:t>If p = q, then log(p/q) = 0 every time.
You earn nothing above the baseline.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19672" y="1188720"/>
            <a:ext cx="5212080" cy="3657600"/>
          </a:xfrm>
          <a:prstGeom prst="rect">
            <a:avLst/>
          </a:prstGeom>
          <a:solidFill>
            <a:srgbClr val="16233A"/>
          </a:solidFill>
          <a:ln w="19050">
            <a:solidFill>
              <a:srgbClr val="8A9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1325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❌  "Ask one LLM"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201168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6B"/>
                </a:solidFill>
              </a:rPr>
              <a:t>Brier: burns when it drifts (~0.53)</a:t>
            </a:r>
          </a:p>
          <a:p>
            <a:pPr algn="l"/>
            <a:r>
              <a:rPr sz="2000" b="1" i="0">
                <a:solidFill>
                  <a:srgbClr val="FF6B6B"/>
                </a:solidFill>
              </a:rPr>
              <a:t>AVER: −0.31  (deviates wrong)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800" b="0" i="1">
                <a:solidFill>
                  <a:srgbClr val="8A97AB"/>
                </a:solidFill>
              </a:rPr>
              <a:t>LLMs deviate from markets without any
ground truth to anchor them.</a:t>
            </a:r>
          </a:p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700" b="0" i="0">
                <a:solidFill>
                  <a:srgbClr val="8A97AB"/>
                </a:solidFill>
              </a:rPr>
              <a:t>No memory of resolved markets.
No sense of where the market is already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2704" y="23774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9A3C"/>
                </a:solidFill>
              </a:rPr>
              <a:t>VS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074920"/>
            <a:ext cx="11274552" cy="1234440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FFFFFF"/>
                </a:solidFill>
              </a:rPr>
              <a:t>You can't be a forecaster by being a mirror.
But you can't win by guessing, either.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Our Solution: A Market-Aware Meta-Calibrator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34440"/>
            <a:ext cx="1828800" cy="1508760"/>
          </a:xfrm>
          <a:prstGeom prst="rect">
            <a:avLst/>
          </a:prstGeom>
          <a:solidFill>
            <a:srgbClr val="16233A"/>
          </a:solidFill>
          <a:ln w="3175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" y="1554480"/>
            <a:ext cx="17007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Question
+ Market Price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03120" y="1988819"/>
            <a:ext cx="420624" cy="0"/>
          </a:xfrm>
          <a:prstGeom prst="line">
            <a:avLst/>
          </a:prstGeom>
          <a:ln w="31750">
            <a:solidFill>
              <a:srgbClr val="29B5E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23744" y="1234440"/>
            <a:ext cx="1828800" cy="1508760"/>
          </a:xfrm>
          <a:prstGeom prst="rect">
            <a:avLst/>
          </a:prstGeom>
          <a:solidFill>
            <a:srgbClr val="16233A"/>
          </a:solidFill>
          <a:ln w="3175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87751" y="1554480"/>
            <a:ext cx="17007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 LLM Models
(parallel)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2544" y="1988819"/>
            <a:ext cx="420624" cy="0"/>
          </a:xfrm>
          <a:prstGeom prst="line">
            <a:avLst/>
          </a:prstGeom>
          <a:ln w="31750">
            <a:solidFill>
              <a:srgbClr val="29B5E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73168" y="1234440"/>
            <a:ext cx="1828800" cy="1508760"/>
          </a:xfrm>
          <a:prstGeom prst="rect">
            <a:avLst/>
          </a:prstGeom>
          <a:solidFill>
            <a:srgbClr val="0D2B45"/>
          </a:solidFill>
          <a:ln w="3175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7176" y="1554480"/>
            <a:ext cx="17007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Snowflake
Memory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01968" y="1988819"/>
            <a:ext cx="420624" cy="0"/>
          </a:xfrm>
          <a:prstGeom prst="line">
            <a:avLst/>
          </a:prstGeom>
          <a:ln w="31750">
            <a:solidFill>
              <a:srgbClr val="29B5E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022592" y="1234440"/>
            <a:ext cx="1828800" cy="1508760"/>
          </a:xfrm>
          <a:prstGeom prst="rect">
            <a:avLst/>
          </a:prstGeom>
          <a:solidFill>
            <a:srgbClr val="16233A"/>
          </a:solidFill>
          <a:ln w="3175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1554480"/>
            <a:ext cx="17007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Calibrator
(AutoML #1)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51392" y="1988819"/>
            <a:ext cx="420624" cy="0"/>
          </a:xfrm>
          <a:prstGeom prst="line">
            <a:avLst/>
          </a:prstGeom>
          <a:ln w="31750">
            <a:solidFill>
              <a:srgbClr val="29B5E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72016" y="1234440"/>
            <a:ext cx="1828800" cy="1508760"/>
          </a:xfrm>
          <a:prstGeom prst="rect">
            <a:avLst/>
          </a:prstGeom>
          <a:solidFill>
            <a:srgbClr val="283A10"/>
          </a:solidFill>
          <a:ln w="317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1554480"/>
            <a:ext cx="17007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α-Policy
(AutoML #2)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100816" y="1988819"/>
            <a:ext cx="466344" cy="0"/>
          </a:xfrm>
          <a:prstGeom prst="line">
            <a:avLst/>
          </a:prstGeom>
          <a:ln w="31750">
            <a:solidFill>
              <a:srgbClr val="29B5E8"/>
            </a:solidFill>
            <a:tailEnd type="none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1521440" y="1463040"/>
            <a:ext cx="1325880" cy="1051560"/>
          </a:xfrm>
          <a:prstGeom prst="rect">
            <a:avLst/>
          </a:prstGeom>
          <a:solidFill>
            <a:srgbClr val="16233A"/>
          </a:solidFill>
          <a:ln w="31750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67160" y="1737360"/>
            <a:ext cx="1234440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A3C"/>
                </a:solidFill>
              </a:rPr>
              <a:t>Final
Prob.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28346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7AB"/>
                </a:solidFill>
              </a:rPr>
              <a:t>Judge harness
sends OpenAI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9463" y="28346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9B5E8"/>
                </a:solidFill>
              </a:rPr>
              <a:t>GLM-5.1 · Qwen 397B
Qwen 35B · disagreement σ²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8346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9B5E8"/>
                </a:solidFill>
              </a:rPr>
              <a:t>2,548 resolved markets
vector similarity · base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8346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7AB"/>
                </a:solidFill>
              </a:rPr>
              <a:t>Trained on resolved
labels. Brier-aware.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2834640"/>
            <a:ext cx="1737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</a:rPr>
              <a:t>"When to trust us
vs. trust the market"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11274552" cy="1188720"/>
          </a:xfrm>
          <a:prstGeom prst="rect">
            <a:avLst/>
          </a:prstGeom>
          <a:solidFill>
            <a:srgbClr val="14251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519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ECC71"/>
                </a:solidFill>
              </a:rPr>
              <a:t>The α-policy is the key innovation:  </a:t>
            </a:r>
          </a:p>
          <a:p>
            <a:pPr algn="l"/>
            <a:r>
              <a:rPr sz="2100" b="1" i="0">
                <a:solidFill>
                  <a:srgbClr val="FFFFFF"/>
                </a:solidFill>
              </a:rPr>
              <a:t>p_final = α × p_calibrated + (1 − α) × q_market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97AB"/>
                </a:solidFill>
              </a:rPr>
              <a:t>α is learned per-market — based on model disagreement, neighbor count, and question category.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Snowflake Is the Brain — Not the Filing Cabinet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52144"/>
            <a:ext cx="64008" cy="713231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475488" cy="713231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16152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15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B5E8"/>
                </a:solidFill>
              </a:rPr>
              <a:t>HISTORICAL_MARKETS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447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C"/>
                </a:solidFill>
              </a:rPr>
              <a:t>Institutional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152144"/>
            <a:ext cx="6309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7AB"/>
                </a:solidFill>
              </a:rPr>
              <a:t>2,548 resolved Kalshi markets — question text, market prices,
outcomes, timestamps. The ground truth every model trains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11679"/>
            <a:ext cx="64008" cy="713231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11679"/>
            <a:ext cx="475488" cy="713231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75687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75103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B5E8"/>
                </a:solidFill>
              </a:rPr>
              <a:t>EMBED_TEXT_768  (Cortex)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04287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C"/>
                </a:solidFill>
              </a:rPr>
              <a:t>Vectorised Inside the 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011679"/>
            <a:ext cx="6309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7AB"/>
                </a:solidFill>
              </a:rPr>
              <a:t>Question embeddings computed natively by Snowflake Cortex.
No data leaves Snowflake. 768-dimensional vectors, per market.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71216"/>
            <a:ext cx="64008" cy="713231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871216"/>
            <a:ext cx="475488" cy="713231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35224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834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B5E8"/>
                </a:solidFill>
              </a:rPr>
              <a:t>VECTOR_COSINE_SIMILARITY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638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C"/>
                </a:solidFill>
              </a:rPr>
              <a:t>Live Neighbor 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871216"/>
            <a:ext cx="6309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7AB"/>
                </a:solidFill>
              </a:rPr>
              <a:t>At inference: embed the new question, find top-15 similar
resolved markets, aggregate their outcomes into a base rate.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30751"/>
            <a:ext cx="64008" cy="713231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30751"/>
            <a:ext cx="475488" cy="713231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94759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694175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B5E8"/>
                </a:solidFill>
              </a:rPr>
              <a:t>ML.CLASSIFICATION + ML.REGRESSION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023359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C"/>
                </a:solidFill>
              </a:rPr>
              <a:t>Two AutoML Models — Calibrator &amp; α-Policy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730751"/>
            <a:ext cx="6309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7AB"/>
                </a:solidFill>
              </a:rPr>
              <a:t>One model corrects raw LLM probabilities (Brier).
A second learns when to deviate from the market price (AVER).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90288"/>
            <a:ext cx="64008" cy="713231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590288"/>
            <a:ext cx="475488" cy="713231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654296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5371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B5E8"/>
                </a:solidFill>
              </a:rPr>
              <a:t>Streamlit-in-Snowflake (SiS)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8289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9A3C"/>
                </a:solidFill>
              </a:rPr>
              <a:t>Judge-Facing Dashboard — 4 Tabs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590288"/>
            <a:ext cx="6309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A97AB"/>
                </a:solidFill>
              </a:rPr>
              <a:t>Live forecast · Brier vs AVER Pareto · By-category results ·
Institutional Memory search — all reading the same Snowflake tables.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0" y="1097280"/>
            <a:ext cx="0" cy="5212080"/>
          </a:xfrm>
          <a:prstGeom prst="line">
            <a:avLst/>
          </a:prstGeom>
          <a:ln w="12700">
            <a:solidFill>
              <a:srgbClr val="2A3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65760" y="6355080"/>
            <a:ext cx="11457432" cy="36576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37336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29B5E8"/>
                </a:solidFill>
              </a:rPr>
              <a:t>Five distinct Snowflake surfaces. One shared catalog. No shadow databases.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Result: We Win on Both Metrics — Simultaneously</a:t>
            </a:r>
          </a:p>
        </p:txBody>
      </p:sp>
      <p:pic>
        <p:nvPicPr>
          <p:cNvPr id="4" name="Picture 3" descr="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943600" cy="4434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5080" y="1143000"/>
            <a:ext cx="5532120" cy="6675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252728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9B5E8"/>
                </a:solidFill>
              </a:rPr>
              <a:t>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1252728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9B5E8"/>
                </a:solidFill>
              </a:rPr>
              <a:t>Brier 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1252728"/>
            <a:ext cx="1051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9B5E8"/>
                </a:solidFill>
              </a:rPr>
              <a:t>AVER ↑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856232"/>
            <a:ext cx="5532120" cy="66751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Raw Ensemble (3 LLMs)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6920" y="1965960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0.533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1965960"/>
            <a:ext cx="1051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6B6B"/>
                </a:solidFill>
              </a:rPr>
              <a:t>-0.314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569464"/>
            <a:ext cx="5532120" cy="667512"/>
          </a:xfrm>
          <a:prstGeom prst="rect">
            <a:avLst/>
          </a:prstGeom>
          <a:solidFill>
            <a:srgbClr val="16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679192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Always Kalshi 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679192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0.410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679192"/>
            <a:ext cx="1051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+0.000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282696"/>
            <a:ext cx="5532120" cy="667512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92424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Best Fixed Global 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392424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0.337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3392424"/>
            <a:ext cx="1051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+0.059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995928"/>
            <a:ext cx="5532120" cy="667512"/>
          </a:xfrm>
          <a:prstGeom prst="rect">
            <a:avLst/>
          </a:prstGeom>
          <a:solidFill>
            <a:srgbClr val="142B1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05656"/>
            <a:ext cx="30175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★ Learned α-Policy (ours)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105656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0.319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4105656"/>
            <a:ext cx="1051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+0.096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4773168"/>
            <a:ext cx="5394960" cy="1417320"/>
          </a:xfrm>
          <a:prstGeom prst="rect">
            <a:avLst/>
          </a:prstGeom>
          <a:solidFill>
            <a:srgbClr val="142B14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828032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2ECC71"/>
                </a:solidFill>
              </a:rPr>
              <a:t>22% better Brier than the market</a:t>
            </a:r>
          </a:p>
          <a:p>
            <a:pPr algn="ctr"/>
            <a:r>
              <a:rPr sz="2300" b="1" i="0">
                <a:solidFill>
                  <a:srgbClr val="FFFFFF"/>
                </a:solidFill>
              </a:rPr>
              <a:t>AND positive AVER — both at once.</a:t>
            </a:r>
          </a:p>
          <a:p>
            <a:pPr algn="ctr">
              <a:spcBef>
                <a:spcPts val="400"/>
              </a:spcBef>
            </a:pPr>
            <a:r>
              <a:rPr sz="1600" b="0" i="1">
                <a:solidFill>
                  <a:srgbClr val="8A97AB"/>
                </a:solidFill>
              </a:rPr>
              <a:t>The learned policy beats a fixed dial on both axes.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Built to Be Judged — Three Ways to Verify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3749039" cy="4937760"/>
          </a:xfrm>
          <a:prstGeom prst="rect">
            <a:avLst/>
          </a:prstGeom>
          <a:solidFill>
            <a:srgbClr val="16233A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887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057400"/>
            <a:ext cx="356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OpenAI-Compatible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6060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9B5E8"/>
                </a:solidFill>
              </a:rPr>
              <a:t>POST /v1/chat/completions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7AB"/>
                </a:solidFill>
              </a:rPr>
              <a:t>Plug-and-play with the Prophet Arena judge harness.
No custom glue required.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7" y="1097280"/>
            <a:ext cx="3749039" cy="4937760"/>
          </a:xfrm>
          <a:prstGeom prst="rect">
            <a:avLst/>
          </a:prstGeom>
          <a:solidFill>
            <a:srgbClr val="16233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7" y="11887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7" y="2057400"/>
            <a:ext cx="356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Streamlit-in-Snowflake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7" y="26060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</a:rPr>
              <a:t>4-tab live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7" y="3154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7AB"/>
                </a:solidFill>
              </a:rPr>
              <a:t>Live forecast · Pareto plot · By-category ·
Institutional Memory search — same Snowflake tables.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5" y="1097280"/>
            <a:ext cx="3749039" cy="4937760"/>
          </a:xfrm>
          <a:prstGeom prst="rect">
            <a:avLst/>
          </a:prstGeom>
          <a:solidFill>
            <a:srgbClr val="16233A"/>
          </a:solidFill>
          <a:ln w="25400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5" y="118872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5" y="2057400"/>
            <a:ext cx="3566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</a:rPr>
              <a:t>Full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5" y="2606040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9A3C"/>
                </a:solidFill>
              </a:rPr>
              <a:t>AGENT_PREDICTIONS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315468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7AB"/>
                </a:solidFill>
              </a:rPr>
              <a:t>Every request logged to Snowflake:
ensemble, neighbors, calibrator output, alpha, final prob.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17720"/>
            <a:ext cx="11521440" cy="173736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9B5E8"/>
                </a:solidFill>
              </a:rPr>
              <a:t>curl -sS -X POST http://localhost:8000/v1/chat/completions \
     -H "Content-Type: application/json" \
     -d @tests/fixtures/sample_event.json
# → {"probabilities": [0.48, 0.52], "prophet_debug": {...}}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6012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8A97AB"/>
                </a:solidFill>
              </a:rPr>
              <a:t>ProphetHacks 2026 — University of Chicago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5" y="2834640"/>
            <a:ext cx="2743200" cy="1371600"/>
          </a:xfrm>
          <a:prstGeom prst="rect">
            <a:avLst/>
          </a:prstGeom>
          <a:solidFill>
            <a:srgbClr val="16233A"/>
          </a:solidFill>
          <a:ln w="2540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5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9B5E8"/>
                </a:solidFill>
              </a:rPr>
              <a:t>Snowflake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5" y="3429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7AB"/>
                </a:solidFill>
              </a:rPr>
              <a:t>Compute · Cortex · AutoML · 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5556" y="2834640"/>
            <a:ext cx="2743200" cy="1371600"/>
          </a:xfrm>
          <a:prstGeom prst="rect">
            <a:avLst/>
          </a:prstGeom>
          <a:solidFill>
            <a:srgbClr val="16233A"/>
          </a:solidFill>
          <a:ln w="25400">
            <a:solidFill>
              <a:srgbClr val="A0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5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70FF"/>
                </a:solidFill>
              </a:rPr>
              <a:t>Wafer.ai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1275" y="3429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7AB"/>
                </a:solidFill>
              </a:rPr>
              <a:t>Multi-model LLM ensemble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0196" y="2834640"/>
            <a:ext cx="2743200" cy="1371600"/>
          </a:xfrm>
          <a:prstGeom prst="rect">
            <a:avLst/>
          </a:prstGeom>
          <a:solidFill>
            <a:srgbClr val="16233A"/>
          </a:solidFill>
          <a:ln w="25400">
            <a:solidFill>
              <a:srgbClr val="FF9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5916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9A3C"/>
                </a:solidFill>
              </a:rPr>
              <a:t>Kalshi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3429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7AB"/>
                </a:solidFill>
              </a:rPr>
              <a:t>Historical market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74836" y="2834640"/>
            <a:ext cx="2743200" cy="1371600"/>
          </a:xfrm>
          <a:prstGeom prst="rect">
            <a:avLst/>
          </a:prstGeom>
          <a:solidFill>
            <a:srgbClr val="16233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20556" y="28803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</a:rPr>
              <a:t>Prophet Arena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0556" y="3429000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7AB"/>
                </a:solidFill>
              </a:rPr>
              <a:t>Evaluation harness &amp;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Brier ↓ 22% vs market baseline  ·  AVER +0.096 vs 0.000  ·  Both, simultaneously.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7AB"/>
                </a:solidFill>
              </a:rPr>
              <a:t>github.com/[your-repo]  ·  ./run.sh  →  agent live in under 30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6217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A97AB"/>
                </a:solidFill>
              </a:rPr>
              <a:t>UncommonHacks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